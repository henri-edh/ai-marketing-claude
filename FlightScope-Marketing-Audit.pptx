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Impact ($K)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Hero Headline</c:v>
                  </c:pt>
                  <c:pt idx="1">
                    <c:v>Countdown Timers</c:v>
                  </c:pt>
                  <c:pt idx="2">
                    <c:v>Trust Badges</c:v>
                  </c:pt>
                  <c:pt idx="3">
                    <c:v>Testimonials</c:v>
                  </c:pt>
                  <c:pt idx="4">
                    <c:v>Product Quiz</c:v>
                  </c:pt>
                  <c:pt idx="5">
                    <c:v>Referral Program</c:v>
                  </c:pt>
                  <c:pt idx="6">
                    <c:v>Comparison Pages</c:v>
                  </c:pt>
                  <c:pt idx="7">
                    <c:v>Product Pages</c:v>
                  </c:pt>
                  <c:pt idx="8">
                    <c:v>Loyalty Program</c:v>
                  </c:pt>
                  <c:pt idx="9">
                    <c:v>Edu Content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3.5</c:v>
                </c:pt>
                <c:pt idx="2">
                  <c:v>2.5</c:v>
                </c:pt>
                <c:pt idx="3">
                  <c:v>6.5</c:v>
                </c:pt>
                <c:pt idx="4">
                  <c:v>8.5</c:v>
                </c:pt>
                <c:pt idx="5">
                  <c:v>5.5</c:v>
                </c:pt>
                <c:pt idx="6">
                  <c:v>11.5</c:v>
                </c:pt>
                <c:pt idx="7">
                  <c:v>18.5</c:v>
                </c:pt>
                <c:pt idx="8">
                  <c:v>22.5</c:v>
                </c:pt>
                <c:pt idx="9">
                  <c:v>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3C9BE"/>
          </a:solidFill>
          <a:ln w="12700">
            <a:solidFill>
              <a:srgbClr val="13C9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FFFFF"/>
                </a:solidFill>
              </a:rPr>
              <a:t>FLIGHTSCOPE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MARKETING AUDIT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566160" y="2423160"/>
            <a:ext cx="2011680" cy="2011680"/>
          </a:xfrm>
          <a:prstGeom prst="ellipse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2542032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1B2A"/>
                </a:solidFill>
              </a:rPr>
              <a:t>69</a:t>
            </a:r>
            <a:endParaRPr lang="en-US" sz="5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D1B2A"/>
                </a:solidFill>
              </a:rPr>
              <a:t>/100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566160" y="3703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29"/>
                </a:solidFill>
              </a:rPr>
              <a:t>Grade: 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A0B3"/>
                </a:solidFill>
              </a:rPr>
              <a:t>flightscope.com  ·  March 20, 2026  ·  E-Commerce / D2C Golf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9184"/>
            <a:ext cx="45720" cy="347472"/>
          </a:xfrm>
          <a:prstGeom prst="rect">
            <a:avLst/>
          </a:prstGeom>
          <a:solidFill>
            <a:srgbClr val="13C9BE"/>
          </a:solidFill>
          <a:ln w="12700">
            <a:solidFill>
              <a:srgbClr val="13C9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EXECUTIVE SUMMARY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96012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727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C9BE"/>
                </a:solidFill>
              </a:rPr>
              <a:t>BIGGEST STRENGTH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Clear price-performance advantage vs premium competitors ($12,745 vs TrackMan's $18,000+) while delivering professional-grade accuracy through patented Fusion Tracking technology.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8412480" cy="96012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78608"/>
            <a:ext cx="201168" cy="9601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6426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87171"/>
                </a:solidFill>
              </a:rPr>
              <a:t>BIGGEST GAP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28986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No competitive comparison content — customers must independently research why FlightScope beats TrackMan, Foresight, or Rapsodo. "Fusion Tracking" differentiation is not clearly leveraged.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C9BE"/>
                </a:solidFill>
              </a:rPr>
              <a:t>TOP 3 ACTIONS TO MOVE THE NEEDLE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950208"/>
            <a:ext cx="269748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C9BE"/>
                </a:solidFill>
              </a:rPr>
              <a:t>01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9867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Create comparison pages (/vs-trackman, /vs-foresight) to capture research-stage buyers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3950208"/>
            <a:ext cx="269748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C9BE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94760" y="39867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Rewrite hero headline with benefit-driven messaging ('Transform Your Game with Tour-Level Accuracy')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3950208"/>
            <a:ext cx="2697480" cy="91440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C9BE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29400" y="39867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Launch referral program — UpPromote already installed but disabled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SCORE BREAKDOWN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16152"/>
            <a:ext cx="6583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16152"/>
            <a:ext cx="4476902" cy="27432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Content &amp; Messaging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0" y="11978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E9AF1"/>
                </a:solidFill>
              </a:rPr>
              <a:t>68/100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6583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65376"/>
            <a:ext cx="4147718" cy="2743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007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Conversion Optimization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8470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5252"/>
                </a:solidFill>
              </a:rPr>
              <a:t>63/100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6583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14600"/>
            <a:ext cx="4740250" cy="274320"/>
          </a:xfrm>
          <a:prstGeom prst="rect">
            <a:avLst/>
          </a:prstGeom>
          <a:solidFill>
            <a:srgbClr val="3DCCA0"/>
          </a:solidFill>
          <a:ln w="12700">
            <a:solidFill>
              <a:srgbClr val="3DCC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500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SEO &amp; Discoverability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4963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DCCA0"/>
                </a:solidFill>
              </a:rPr>
              <a:t>72/100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6583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63824"/>
            <a:ext cx="4740250" cy="274320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992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Competitive Positioning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31455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A229"/>
                </a:solidFill>
              </a:rPr>
              <a:t>72/100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3813048"/>
            <a:ext cx="6583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13048"/>
            <a:ext cx="474025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48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Brand &amp; Trust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794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72/100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4462272"/>
            <a:ext cx="6583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62272"/>
            <a:ext cx="4476902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97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Growth &amp; Strategy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44439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B923C"/>
                </a:solidFill>
              </a:rPr>
              <a:t>68/100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09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OVERALL SCORE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4709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29"/>
                </a:solidFill>
              </a:rPr>
              <a:t>69/100  —  Grade: C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QUICK WINS — THIS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2743200" cy="173736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338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9BE"/>
                </a:solidFill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18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Rewrite Hero Headline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2468880" cy="256032"/>
          </a:xfrm>
          <a:prstGeom prst="rect">
            <a:avLst/>
          </a:prstGeom>
          <a:solidFill>
            <a:srgbClr val="0A2E40"/>
          </a:solidFill>
          <a:ln w="12700">
            <a:solidFill>
              <a:srgbClr val="0A2E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29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C9BE"/>
                </a:solidFill>
              </a:rPr>
              <a:t>15–20% engagement lift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441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0B3"/>
                </a:solidFill>
              </a:rPr>
              <a:t>30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1024128"/>
            <a:ext cx="2743200" cy="173736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1338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9BE"/>
                </a:solidFill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10128" y="1618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Countdown Timers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10128" y="2029968"/>
            <a:ext cx="2468880" cy="256032"/>
          </a:xfrm>
          <a:prstGeom prst="rect">
            <a:avLst/>
          </a:prstGeom>
          <a:solidFill>
            <a:srgbClr val="0A2E40"/>
          </a:solidFill>
          <a:ln w="12700">
            <a:solidFill>
              <a:srgbClr val="0A2E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029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C9BE"/>
                </a:solidFill>
              </a:rPr>
              <a:t>10–15% CTR increase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2441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0B3"/>
                </a:solidFill>
              </a:rPr>
              <a:t>1 hour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25896" y="1024128"/>
            <a:ext cx="2743200" cy="173736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63056" y="11338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9BE"/>
                </a:solidFill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63056" y="1618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Move 30-Day Guarantee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63056" y="2029968"/>
            <a:ext cx="2468880" cy="256032"/>
          </a:xfrm>
          <a:prstGeom prst="rect">
            <a:avLst/>
          </a:prstGeom>
          <a:solidFill>
            <a:srgbClr val="0A2E40"/>
          </a:solidFill>
          <a:ln w="12700">
            <a:solidFill>
              <a:srgbClr val="0A2E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2029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C9BE"/>
                </a:solidFill>
              </a:rPr>
              <a:t>5–8% less cart abandonment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63056" y="2441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0B3"/>
                </a:solidFill>
              </a:rPr>
              <a:t>30 min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743200" cy="173736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9BE"/>
                </a:solidFill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Customer Testimonials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2468880" cy="256032"/>
          </a:xfrm>
          <a:prstGeom prst="rect">
            <a:avLst/>
          </a:prstGeom>
          <a:solidFill>
            <a:srgbClr val="0A2E40"/>
          </a:solidFill>
          <a:ln w="12700">
            <a:solidFill>
              <a:srgbClr val="0A2E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31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C9BE"/>
                </a:solidFill>
              </a:rPr>
              <a:t>12–18% conversion increase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343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0B3"/>
                </a:solidFill>
              </a:rPr>
              <a:t>2 hours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72968" y="2926080"/>
            <a:ext cx="2743200" cy="173736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10128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9BE"/>
                </a:solidFill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310128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Selection Quiz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10128" y="3931920"/>
            <a:ext cx="2468880" cy="256032"/>
          </a:xfrm>
          <a:prstGeom prst="rect">
            <a:avLst/>
          </a:prstGeom>
          <a:solidFill>
            <a:srgbClr val="0A2E40"/>
          </a:solidFill>
          <a:ln w="12700">
            <a:solidFill>
              <a:srgbClr val="0A2E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931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C9BE"/>
                </a:solidFill>
              </a:rPr>
              <a:t>20–25% qualified leads boost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0128" y="4343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0B3"/>
                </a:solidFill>
              </a:rPr>
              <a:t>4 hours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25896" y="2926080"/>
            <a:ext cx="2743200" cy="173736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63056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9BE"/>
                </a:solidFill>
              </a:rPr>
              <a:t>06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163056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Activate Referral Program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63056" y="3931920"/>
            <a:ext cx="2468880" cy="256032"/>
          </a:xfrm>
          <a:prstGeom prst="rect">
            <a:avLst/>
          </a:prstGeom>
          <a:solidFill>
            <a:srgbClr val="0A2E40"/>
          </a:solidFill>
          <a:ln w="12700">
            <a:solidFill>
              <a:srgbClr val="0A2E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3931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C9BE"/>
                </a:solidFill>
              </a:rPr>
              <a:t>5–10% referral traffic lift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63056" y="4343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0B3"/>
                </a:solidFill>
              </a:rPr>
              <a:t>2 hours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40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RECOMMENDATIONS — THIS MONTH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64592" cy="68580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607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Competitive Comparison Pages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Create /vs-trackman, /vs-foresight, /mevo-plus-vs-rapsodo to capture research-stage buyers.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0" y="1115568"/>
            <a:ext cx="1645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1155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C9BE"/>
                </a:solidFill>
              </a:rPr>
              <a:t>$8K–$15K/mo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26680" y="1207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2–3 wks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83080"/>
            <a:ext cx="164592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379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Redesign Product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1122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Add video testimonials, trust badges near CTA, financing badge, and live chat.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1892808"/>
            <a:ext cx="1645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8928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C9BE"/>
                </a:solidFill>
              </a:rPr>
              <a:t>$12K–$25K/mo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26680" y="1984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2 wks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560320"/>
            <a:ext cx="164592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15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FlightScope Pro Loyalty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2889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Silver / Gold / Platinum tiers with exclusive perks, email nurture sequences.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2670048"/>
            <a:ext cx="1645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670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C9BE"/>
                </a:solidFill>
              </a:rPr>
              <a:t>$15K–$30K/mo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26680" y="27614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3–4 wks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3375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37560"/>
            <a:ext cx="164592" cy="685800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3924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Educational Content Strategy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6667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FlightScope Academy, Fusion Tracking whitepaper, 5,000-word buying guide.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3447288"/>
            <a:ext cx="1645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447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C9BE"/>
                </a:solidFill>
              </a:rPr>
              <a:t>$5K–$12K/mo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3538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4 wks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114800"/>
            <a:ext cx="164592" cy="6858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69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Interactive Product Comparison Tool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4439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Side-by-side Mevo+ vs Mevo Gen2 vs X3C — filter by use case and budget.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0" y="4224528"/>
            <a:ext cx="1645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4224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C9BE"/>
                </a:solidFill>
              </a:rPr>
              <a:t>$8K–$18K/mo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26680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2 wks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COMPETITIVE LANDSCAPE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141732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1005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CA0B3"/>
                </a:solidFill>
              </a:rPr>
              <a:t>Competitor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64792" y="1005840"/>
            <a:ext cx="82296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92224" y="100584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A0B3"/>
                </a:solidFill>
              </a:rPr>
              <a:t>Headline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87752" y="1005840"/>
            <a:ext cx="82296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5184" y="100584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A0B3"/>
                </a:solidFill>
              </a:rPr>
              <a:t>Value Prop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10712" y="1005840"/>
            <a:ext cx="82296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00584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A0B3"/>
                </a:solidFill>
              </a:rPr>
              <a:t>Trust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233672" y="1005840"/>
            <a:ext cx="82296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1104" y="100584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A0B3"/>
                </a:solidFill>
              </a:rPr>
              <a:t>CTA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56632" y="1005840"/>
            <a:ext cx="82296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064" y="100584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A0B3"/>
                </a:solidFill>
              </a:rPr>
              <a:t>Pricing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879592" y="1005840"/>
            <a:ext cx="82296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07024" y="100584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A0B3"/>
                </a:solidFill>
              </a:rPr>
              <a:t>Content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702552" y="1005840"/>
            <a:ext cx="82296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100584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A0B3"/>
                </a:solidFill>
              </a:rPr>
              <a:t>Comp Pages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525512" y="1005840"/>
            <a:ext cx="68580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5512" y="10058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CA0B3"/>
                </a:solidFill>
              </a:rPr>
              <a:t>Avg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7472" y="1353312"/>
            <a:ext cx="1417320" cy="566928"/>
          </a:xfrm>
          <a:prstGeom prst="rect">
            <a:avLst/>
          </a:prstGeom>
          <a:solidFill>
            <a:srgbClr val="0D3352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13533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C9BE"/>
                </a:solidFill>
              </a:rPr>
              <a:t>FlightScope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764792" y="1353312"/>
            <a:ext cx="822960" cy="566928"/>
          </a:xfrm>
          <a:prstGeom prst="rect">
            <a:avLst/>
          </a:prstGeom>
          <a:solidFill>
            <a:srgbClr val="0D3352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1700784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1700784"/>
            <a:ext cx="277978" cy="1097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64792" y="14081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87752" y="1353312"/>
            <a:ext cx="822960" cy="566928"/>
          </a:xfrm>
          <a:prstGeom prst="rect">
            <a:avLst/>
          </a:prstGeom>
          <a:solidFill>
            <a:srgbClr val="0D3352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51760" y="1700784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1700784"/>
            <a:ext cx="416966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14081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10712" y="1353312"/>
            <a:ext cx="822960" cy="566928"/>
          </a:xfrm>
          <a:prstGeom prst="rect">
            <a:avLst/>
          </a:prstGeom>
          <a:solidFill>
            <a:srgbClr val="0D3352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1700784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0" y="1700784"/>
            <a:ext cx="486461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14081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33672" y="1353312"/>
            <a:ext cx="822960" cy="566928"/>
          </a:xfrm>
          <a:prstGeom prst="rect">
            <a:avLst/>
          </a:prstGeom>
          <a:solidFill>
            <a:srgbClr val="0D3352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1700784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0" y="1700784"/>
            <a:ext cx="347472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33672" y="14081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56632" y="1353312"/>
            <a:ext cx="822960" cy="566928"/>
          </a:xfrm>
          <a:prstGeom prst="rect">
            <a:avLst/>
          </a:prstGeom>
          <a:solidFill>
            <a:srgbClr val="0D3352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1700784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0" y="1700784"/>
            <a:ext cx="486461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56632" y="14081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879592" y="1353312"/>
            <a:ext cx="822960" cy="566928"/>
          </a:xfrm>
          <a:prstGeom prst="rect">
            <a:avLst/>
          </a:prstGeom>
          <a:solidFill>
            <a:srgbClr val="0D3352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700784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1700784"/>
            <a:ext cx="347472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79592" y="14081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702552" y="1353312"/>
            <a:ext cx="822960" cy="566928"/>
          </a:xfrm>
          <a:prstGeom prst="rect">
            <a:avLst/>
          </a:prstGeom>
          <a:solidFill>
            <a:srgbClr val="0D3352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1700784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1700784"/>
            <a:ext cx="0" cy="1097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02552" y="14081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525512" y="1353312"/>
            <a:ext cx="685800" cy="566928"/>
          </a:xfrm>
          <a:prstGeom prst="rect">
            <a:avLst/>
          </a:prstGeom>
          <a:solidFill>
            <a:srgbClr val="0D3352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25512" y="135331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252"/>
                </a:solidFill>
              </a:rPr>
              <a:t>4.9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47472" y="1920240"/>
            <a:ext cx="141732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" y="19202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TrackMan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764792" y="1920240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0" y="2267712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28800" y="2267712"/>
            <a:ext cx="555955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64792" y="1975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8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2587752" y="1920240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51760" y="2267712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51760" y="2267712"/>
            <a:ext cx="62545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87752" y="1975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9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410712" y="1920240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474720" y="2267712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74720" y="2267712"/>
            <a:ext cx="694944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10712" y="1975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10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233672" y="1920240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97680" y="2267712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97680" y="2267712"/>
            <a:ext cx="555955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33672" y="1975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8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056632" y="1920240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120640" y="2267712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120640" y="2267712"/>
            <a:ext cx="416966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56632" y="1975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6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879592" y="1920240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943600" y="2267712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43600" y="2267712"/>
            <a:ext cx="62545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79592" y="1975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9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6702552" y="1920240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66560" y="2267712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66560" y="2267712"/>
            <a:ext cx="555955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02552" y="1975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8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7525512" y="1920240"/>
            <a:ext cx="68580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25512" y="19202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8.3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347472" y="2487168"/>
            <a:ext cx="141732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0624" y="24871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Foresight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1764792" y="2487168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28800" y="2834640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828800" y="2834640"/>
            <a:ext cx="486461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764792" y="2542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7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2587752" y="2487168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51760" y="2834640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651760" y="2834640"/>
            <a:ext cx="486461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87752" y="2542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7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3410712" y="2487168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74720" y="2834640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474720" y="2834640"/>
            <a:ext cx="555955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410712" y="2542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8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4233672" y="2487168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297680" y="2834640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97680" y="2834640"/>
            <a:ext cx="486461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233672" y="2542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7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5056632" y="2487168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20640" y="2834640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20640" y="2834640"/>
            <a:ext cx="486461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056632" y="2542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7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5879592" y="2487168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943600" y="2834640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943600" y="2834640"/>
            <a:ext cx="486461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879592" y="2542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7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6702552" y="2487168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766560" y="2834640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766560" y="2834640"/>
            <a:ext cx="486461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702552" y="2542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7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7525512" y="2487168"/>
            <a:ext cx="6858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525512" y="24871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7.1</a:t>
            </a:r>
            <a:endParaRPr lang="en-US" sz="1400" dirty="0"/>
          </a:p>
        </p:txBody>
      </p:sp>
      <p:sp>
        <p:nvSpPr>
          <p:cNvPr id="118" name="Shape 116"/>
          <p:cNvSpPr/>
          <p:nvPr/>
        </p:nvSpPr>
        <p:spPr>
          <a:xfrm>
            <a:off x="347472" y="3054096"/>
            <a:ext cx="141732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20624" y="305409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SkyTrak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1764792" y="3054096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828800" y="3401568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828800" y="3401568"/>
            <a:ext cx="416966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764792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6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2587752" y="3054096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651760" y="3401568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651760" y="3401568"/>
            <a:ext cx="416966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587752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6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3410712" y="3054096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474720" y="3401568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474720" y="3401568"/>
            <a:ext cx="416966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410712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6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4233672" y="3054096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297680" y="3401568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297680" y="3401568"/>
            <a:ext cx="416966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233672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6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5056632" y="3054096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120640" y="3401568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120640" y="3401568"/>
            <a:ext cx="555955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056632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8</a:t>
            </a:r>
            <a:endParaRPr lang="en-US" sz="1300" dirty="0"/>
          </a:p>
        </p:txBody>
      </p:sp>
      <p:sp>
        <p:nvSpPr>
          <p:cNvPr id="140" name="Shape 138"/>
          <p:cNvSpPr/>
          <p:nvPr/>
        </p:nvSpPr>
        <p:spPr>
          <a:xfrm>
            <a:off x="5879592" y="3054096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943600" y="3401568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943600" y="3401568"/>
            <a:ext cx="416966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879592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6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6702552" y="3054096"/>
            <a:ext cx="82296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766560" y="3401568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766560" y="3401568"/>
            <a:ext cx="347472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702552" y="3108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5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7525512" y="3054096"/>
            <a:ext cx="685800" cy="566928"/>
          </a:xfrm>
          <a:prstGeom prst="rect">
            <a:avLst/>
          </a:prstGeom>
          <a:solidFill>
            <a:srgbClr val="0F1E30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525512" y="305409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29"/>
                </a:solidFill>
              </a:rPr>
              <a:t>6.3</a:t>
            </a:r>
            <a:endParaRPr lang="en-US" sz="1400" dirty="0"/>
          </a:p>
        </p:txBody>
      </p:sp>
      <p:sp>
        <p:nvSpPr>
          <p:cNvPr id="150" name="Shape 148"/>
          <p:cNvSpPr/>
          <p:nvPr/>
        </p:nvSpPr>
        <p:spPr>
          <a:xfrm>
            <a:off x="347472" y="3621024"/>
            <a:ext cx="141732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20624" y="362102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Rapsodo</a:t>
            </a:r>
            <a:endParaRPr lang="en-US" sz="1050" dirty="0"/>
          </a:p>
        </p:txBody>
      </p:sp>
      <p:sp>
        <p:nvSpPr>
          <p:cNvPr id="152" name="Shape 150"/>
          <p:cNvSpPr/>
          <p:nvPr/>
        </p:nvSpPr>
        <p:spPr>
          <a:xfrm>
            <a:off x="1764792" y="3621024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828800" y="3968496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828800" y="3968496"/>
            <a:ext cx="347472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1764792" y="3675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5</a:t>
            </a:r>
            <a:endParaRPr lang="en-US" sz="1300" dirty="0"/>
          </a:p>
        </p:txBody>
      </p:sp>
      <p:sp>
        <p:nvSpPr>
          <p:cNvPr id="156" name="Shape 154"/>
          <p:cNvSpPr/>
          <p:nvPr/>
        </p:nvSpPr>
        <p:spPr>
          <a:xfrm>
            <a:off x="2587752" y="3621024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651760" y="3968496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651760" y="3968496"/>
            <a:ext cx="347472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587752" y="3675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5</a:t>
            </a:r>
            <a:endParaRPr lang="en-US" sz="1300" dirty="0"/>
          </a:p>
        </p:txBody>
      </p:sp>
      <p:sp>
        <p:nvSpPr>
          <p:cNvPr id="160" name="Shape 158"/>
          <p:cNvSpPr/>
          <p:nvPr/>
        </p:nvSpPr>
        <p:spPr>
          <a:xfrm>
            <a:off x="3410712" y="3621024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474720" y="3968496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474720" y="3968496"/>
            <a:ext cx="347472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410712" y="3675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5</a:t>
            </a:r>
            <a:endParaRPr lang="en-US" sz="1300" dirty="0"/>
          </a:p>
        </p:txBody>
      </p:sp>
      <p:sp>
        <p:nvSpPr>
          <p:cNvPr id="164" name="Shape 162"/>
          <p:cNvSpPr/>
          <p:nvPr/>
        </p:nvSpPr>
        <p:spPr>
          <a:xfrm>
            <a:off x="4233672" y="3621024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297680" y="3968496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297680" y="3968496"/>
            <a:ext cx="416966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233672" y="3675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6</a:t>
            </a:r>
            <a:endParaRPr lang="en-US" sz="1300" dirty="0"/>
          </a:p>
        </p:txBody>
      </p:sp>
      <p:sp>
        <p:nvSpPr>
          <p:cNvPr id="168" name="Shape 166"/>
          <p:cNvSpPr/>
          <p:nvPr/>
        </p:nvSpPr>
        <p:spPr>
          <a:xfrm>
            <a:off x="5056632" y="3621024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120640" y="3968496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120640" y="3968496"/>
            <a:ext cx="486461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5056632" y="3675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7</a:t>
            </a:r>
            <a:endParaRPr lang="en-US" sz="1300" dirty="0"/>
          </a:p>
        </p:txBody>
      </p:sp>
      <p:sp>
        <p:nvSpPr>
          <p:cNvPr id="172" name="Shape 170"/>
          <p:cNvSpPr/>
          <p:nvPr/>
        </p:nvSpPr>
        <p:spPr>
          <a:xfrm>
            <a:off x="5879592" y="3621024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943600" y="3968496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943600" y="3968496"/>
            <a:ext cx="347472" cy="10972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879592" y="3675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5</a:t>
            </a:r>
            <a:endParaRPr lang="en-US" sz="1300" dirty="0"/>
          </a:p>
        </p:txBody>
      </p:sp>
      <p:sp>
        <p:nvSpPr>
          <p:cNvPr id="176" name="Shape 174"/>
          <p:cNvSpPr/>
          <p:nvPr/>
        </p:nvSpPr>
        <p:spPr>
          <a:xfrm>
            <a:off x="6702552" y="3621024"/>
            <a:ext cx="82296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766560" y="3968496"/>
            <a:ext cx="694944" cy="10972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766560" y="3968496"/>
            <a:ext cx="277978" cy="1097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702552" y="3675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4</a:t>
            </a:r>
            <a:endParaRPr lang="en-US" sz="1300" dirty="0"/>
          </a:p>
        </p:txBody>
      </p:sp>
      <p:sp>
        <p:nvSpPr>
          <p:cNvPr id="180" name="Shape 178"/>
          <p:cNvSpPr/>
          <p:nvPr/>
        </p:nvSpPr>
        <p:spPr>
          <a:xfrm>
            <a:off x="7525512" y="3621024"/>
            <a:ext cx="6858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525512" y="362102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252"/>
                </a:solidFill>
              </a:rPr>
              <a:t>5.4</a:t>
            </a:r>
            <a:endParaRPr lang="en-US" sz="1400" dirty="0"/>
          </a:p>
        </p:txBody>
      </p:sp>
      <p:sp>
        <p:nvSpPr>
          <p:cNvPr id="182" name="Text 18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A0B3"/>
                </a:solidFill>
              </a:rPr>
              <a:t>Key Insight: FlightScope has the strongest pricing but weakest comparison content. TrackMan dominates through superior content positioning.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40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REVENUE IMPACT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5214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Quick Wins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(This Week)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7A75"/>
                </a:solidFill>
              </a:rPr>
              <a:t>$25K–$50K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0604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0604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15214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Strategic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(This Month)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7556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$58K–$125K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0604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06040" cy="73152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15214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Long-Term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Initiatives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75564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29"/>
                </a:solidFill>
              </a:rPr>
              <a:t>$500K–$1M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ARR Year 1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5760" y="3383280"/>
          <a:ext cx="84124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DETAILED CATEGORY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828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54864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Content &amp; Messaging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4760" y="1097280"/>
            <a:ext cx="548640" cy="32004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097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68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3C9BE"/>
                </a:solidFill>
              </a:rPr>
              <a:t>STRENGTHS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Clear feature differentiation (20 data params, 6-hr battery); strong media mentions (Golf Digest, Forbes).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87171"/>
                </a:solidFill>
              </a:rPr>
              <a:t>GAPS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Hero headline fails 5-second test; feature-heavy vs outcome-driven copy; no transformation stories.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160520" cy="1828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416052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15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Conversion Optimization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097280"/>
            <a:ext cx="548640" cy="3200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097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63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481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3C9BE"/>
                </a:solidFill>
              </a:rPr>
              <a:t>STRENGTHS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1664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Clear product imagery; streamlined Shopify checkout; E6 Connect inclusion is strong value prop.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176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87171"/>
                </a:solidFill>
              </a:rPr>
              <a:t>GAPS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3591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Generic 'Shop Now' CTAs; no countdown timers; 30-day guarantee buried below fold.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4160520" cy="1828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71800"/>
            <a:ext cx="4160520" cy="54864"/>
          </a:xfrm>
          <a:prstGeom prst="rect">
            <a:avLst/>
          </a:prstGeom>
          <a:solidFill>
            <a:srgbClr val="3DCCA0"/>
          </a:solidFill>
          <a:ln w="12700">
            <a:solidFill>
              <a:srgbClr val="3DCC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81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SEO &amp; Discoverability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94760" y="3063240"/>
            <a:ext cx="548640" cy="320040"/>
          </a:xfrm>
          <a:prstGeom prst="rect">
            <a:avLst/>
          </a:prstGeom>
          <a:solidFill>
            <a:srgbClr val="3DCCA0"/>
          </a:solidFill>
          <a:ln w="12700">
            <a:solidFill>
              <a:srgbClr val="3DCC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3063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72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447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3C9BE"/>
                </a:solidFill>
              </a:rPr>
              <a:t>STRENGTHS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6301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Solid title tags; complete OG tags; strong SSL/HSTS; GA4, Facebook Pixel, Google Ads.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142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87171"/>
                </a:solidFill>
              </a:rPr>
              <a:t>GAPS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325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No JSON-LD structured data; using .jpg/.png not WebP; multiple H1s; no hreflang tags.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971800"/>
            <a:ext cx="4160520" cy="182880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971800"/>
            <a:ext cx="4160520" cy="54864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081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Competitive Positioning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38160" y="3063240"/>
            <a:ext cx="548640" cy="320040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3063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72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3447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3C9BE"/>
                </a:solidFill>
              </a:rPr>
              <a:t>STRENGTHS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00600" y="36301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Clear Fusion Tracking differentiation; price-performance ratio; AJGA/GCAA/Titleist partnerships.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4142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87171"/>
                </a:solidFill>
              </a:rPr>
              <a:t>GAPS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0600" y="4325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Zero comparison pages vs TrackMan/Foresight/Rapsodo; differentiation messaging unclear.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40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LONG-TERM INITIATIVES — THIS QUARTER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6400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9AF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1521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Subscription Tiers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2468880" cy="29260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9AF1"/>
                </a:solidFill>
              </a:rPr>
              <a:t>Projected: $5–10M ARR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246888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029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E9AF1"/>
                </a:solidFill>
              </a:rPr>
              <a:t>$19/mo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Shot analysis, practice recommendations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46888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0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2990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E9AF1"/>
                </a:solidFill>
              </a:rPr>
              <a:t>$39/mo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AI coaching, tour pro comparisons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246888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3950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E9AF1"/>
                </a:solidFill>
              </a:rPr>
              <a:t>$79/mo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Virtual lessons, priority support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72968" y="1005840"/>
            <a:ext cx="27432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1005840"/>
            <a:ext cx="274320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1115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75888" y="11521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Community Platform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10128" y="1572768"/>
            <a:ext cx="2468880" cy="29260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1572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Projected: 20–25% churn reduction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10128" y="1965960"/>
            <a:ext cx="246888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Discord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01568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Weekly challenges, monthly tournaments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10128" y="2926080"/>
            <a:ext cx="246888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2990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UGC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01568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#MyFlightScope content campaigns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10128" y="3886200"/>
            <a:ext cx="246888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Gamification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01568" y="4251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Leaderboards and achievement badges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25896" y="1005840"/>
            <a:ext cx="27432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25896" y="1005840"/>
            <a:ext cx="2743200" cy="64008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1115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29"/>
                </a:solidFill>
              </a:rPr>
              <a:t>3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528816" y="11521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FlightScope Academy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63056" y="1572768"/>
            <a:ext cx="2468880" cy="292608"/>
          </a:xfrm>
          <a:prstGeom prst="rect">
            <a:avLst/>
          </a:prstGeom>
          <a:solidFill>
            <a:srgbClr val="0A2035"/>
          </a:solidFill>
          <a:ln w="12700">
            <a:solidFill>
              <a:srgbClr val="0A20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08776" y="1572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29"/>
                </a:solidFill>
              </a:rPr>
              <a:t>Projected: $500K–$1M ARR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63056" y="1965960"/>
            <a:ext cx="246888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Video Courses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63256" y="2029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229"/>
                </a:solidFill>
              </a:rPr>
              <a:t>$199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54496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One-time or $19/month subscription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63056" y="2926080"/>
            <a:ext cx="246888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2990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Classes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63256" y="2990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229"/>
                </a:solidFill>
              </a:rPr>
              <a:t>$49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54496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Per session with PGA pros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63056" y="3886200"/>
            <a:ext cx="2468880" cy="86868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54496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Certification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763256" y="3950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A229"/>
                </a:solidFill>
              </a:rPr>
              <a:t>$999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54496" y="4251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Pro teaching certification program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NEXT STEPS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97764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402336"/>
          </a:xfrm>
          <a:prstGeom prst="rect">
            <a:avLst/>
          </a:prstGeom>
          <a:solidFill>
            <a:srgbClr val="13C9BE"/>
          </a:solidFill>
          <a:ln w="12700">
            <a:solidFill>
              <a:srgbClr val="13C9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1B2A"/>
                </a:solidFill>
              </a:rPr>
              <a:t>THIS WEEK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91056"/>
            <a:ext cx="201168" cy="201168"/>
          </a:xfrm>
          <a:prstGeom prst="ellipse">
            <a:avLst/>
          </a:prstGeom>
          <a:solidFill>
            <a:srgbClr val="13C9BE"/>
          </a:solidFill>
          <a:ln w="12700">
            <a:solidFill>
              <a:srgbClr val="13C9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Rewrite hero headline with benefit-driven messaging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201168" cy="201168"/>
          </a:xfrm>
          <a:prstGeom prst="ellipse">
            <a:avLst/>
          </a:prstGeom>
          <a:solidFill>
            <a:srgbClr val="13C9BE"/>
          </a:solidFill>
          <a:ln w="12700">
            <a:solidFill>
              <a:srgbClr val="13C9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2359152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Add countdown timers to all sale banners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201168" cy="201168"/>
          </a:xfrm>
          <a:prstGeom prst="ellipse">
            <a:avLst/>
          </a:prstGeom>
          <a:solidFill>
            <a:srgbClr val="13C9BE"/>
          </a:solidFill>
          <a:ln w="12700">
            <a:solidFill>
              <a:srgbClr val="13C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3163824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Move 30-day guarantee badge next to Add to Cart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005072"/>
            <a:ext cx="201168" cy="201168"/>
          </a:xfrm>
          <a:prstGeom prst="ellipse">
            <a:avLst/>
          </a:prstGeom>
          <a:solidFill>
            <a:srgbClr val="13C9BE"/>
          </a:solidFill>
          <a:ln w="12700">
            <a:solidFill>
              <a:srgbClr val="13C9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" y="3968496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Activate UpPromote referral program ($100/$100)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72968" y="1005840"/>
            <a:ext cx="2743200" cy="397764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1005840"/>
            <a:ext cx="2743200" cy="4023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005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1B2A"/>
                </a:solidFill>
              </a:rPr>
              <a:t>THIS MONTH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55848" y="1591056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30168" y="1554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Create /vs-trackman and /vs-foresight comparison pages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2395728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30168" y="2359152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Redesign product pages with video testimonials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5848" y="3200400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30168" y="3163824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Launch FlightScope Pro loyalty program tiers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55848" y="4005072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30168" y="3968496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Build interactive product comparison tool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25896" y="1005840"/>
            <a:ext cx="2743200" cy="3977640"/>
          </a:xfrm>
          <a:prstGeom prst="rect">
            <a:avLst/>
          </a:prstGeom>
          <a:solidFill>
            <a:srgbClr val="132233"/>
          </a:solidFill>
          <a:ln w="12700">
            <a:solidFill>
              <a:srgbClr val="1E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25896" y="1005840"/>
            <a:ext cx="2743200" cy="402336"/>
          </a:xfrm>
          <a:prstGeom prst="rect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1005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1B2A"/>
                </a:solidFill>
              </a:rPr>
              <a:t>THIS QUARTER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08776" y="1591056"/>
            <a:ext cx="201168" cy="201168"/>
          </a:xfrm>
          <a:prstGeom prst="ellipse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83096" y="1554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Launch subscription software tiers ($19–$79/month)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08776" y="2395728"/>
            <a:ext cx="201168" cy="201168"/>
          </a:xfrm>
          <a:prstGeom prst="ellipse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8776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83096" y="2359152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Build community platform (Discord / Facebook Group)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08776" y="3200400"/>
            <a:ext cx="201168" cy="201168"/>
          </a:xfrm>
          <a:prstGeom prst="ellipse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8776" y="3182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83096" y="3163824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Create FlightScope Academy education platform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08776" y="4005072"/>
            <a:ext cx="201168" cy="201168"/>
          </a:xfrm>
          <a:prstGeom prst="ellipse">
            <a:avLst/>
          </a:prstGeom>
          <a:solidFill>
            <a:srgbClr val="F4A229"/>
          </a:solidFill>
          <a:ln w="12700">
            <a:solidFill>
              <a:srgbClr val="F4A22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08776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83096" y="3968496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Develop educational content strategy (blog, video, guides)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 Potential: $25K–$50K/month near-term  ·  $500K–$1M ARR long-term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FlightScope Marketing Audit 2026</dc:title>
  <dc:subject>PptxGenJS Presentation</dc:subject>
  <dc:creator>PptxGenJS</dc:creator>
  <cp:lastModifiedBy>PptxGenJS</cp:lastModifiedBy>
  <cp:revision>1</cp:revision>
  <dcterms:created xsi:type="dcterms:W3CDTF">2026-03-20T11:49:08Z</dcterms:created>
  <dcterms:modified xsi:type="dcterms:W3CDTF">2026-03-20T11:49:08Z</dcterms:modified>
</cp:coreProperties>
</file>